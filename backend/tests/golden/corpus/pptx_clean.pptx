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>
            <a:spLocks noGrp="1"/>
          </p:cNvSpPr>
          <p:nvPr/>
        </p:nvSpPr>
        <p:spPr>
          <a:xfrm>
            <a:off x="914400" y="9144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内部资料  请勿外传  # 2024 年度经营分析报告  表 3  2024 年度核心经营指标  | 指标 | 2023年 | 2024年 | 同比 | | --- | --- | --- | --- | | 营业收入 | 30240 | 33500 | +10.8% | | 净利润 | 2180 | 2460 | +12.8% | | 毛利率 | 24.1% | 25.0% | +0.9pp | | 研发投入 | 1520 | 1810 | +19.1% | 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914400" y="18288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内部资料  请勿外传  ## 二、口径说明  营业收入（，含税口径）同比增长 10.8%；净利润 2460 万元，同比增长 12.8%。 毛利率 25.0%，较上年提升 0.9 个百分点；研发投入 1810 万元，同比增长 19.1%。  ```python def yoy(cur: int, prev: int) -&gt; float:     return (cur - prev) / prev  #  同比 ```  上述计算口径与年报一致。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914400" y="27432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内部资料  请勿外传  ## 三、风险提示  原材料价格波动可能影响毛利率；汇率波动影响海外收入折算。 研发投入 1810 万元主要投向智能装备板块（收入 18200 万元，占比 54.3%）。  本页结论：毛利率 25.0% 为全年口径，非季度年化。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C">
      <a:dk1>
        <a:sysClr val="windowText"/>
      </a:dk1>
      <a:lt1>
        <a:sysClr val="window"/>
      </a:lt1>
    </a:clrScheme>
    <a:fontScheme name="F">
      <a:majorFont>
        <a:latin typeface="Calibri"/>
      </a:majorFont>
      <a:minorFont>
        <a:latin typeface="Calibri"/>
      </a:minorFont>
    </a:fontScheme>
    <a:fmtScheme name="S">
      <a:fillStyleLst>
        <a:solidFill>
          <a:schemeClr val="phClr"/>
        </a:solidFill>
      </a:fillStyleLst>
    </a:fmtScheme>
  </a:themeElements>
</a:theme>
</file>